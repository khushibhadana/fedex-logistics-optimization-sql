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i Bhadana" userId="63b79da015caabee" providerId="LiveId" clId="{4036C098-0A70-4F76-9E0A-3179E2754C90}"/>
    <pc:docChg chg="modSld sldOrd">
      <pc:chgData name="Khushi Bhadana" userId="63b79da015caabee" providerId="LiveId" clId="{4036C098-0A70-4F76-9E0A-3179E2754C90}" dt="2026-06-17T15:53:29.695" v="8"/>
      <pc:docMkLst>
        <pc:docMk/>
      </pc:docMkLst>
      <pc:sldChg chg="ord">
        <pc:chgData name="Khushi Bhadana" userId="63b79da015caabee" providerId="LiveId" clId="{4036C098-0A70-4F76-9E0A-3179E2754C90}" dt="2026-06-17T15:53:29.695" v="8"/>
        <pc:sldMkLst>
          <pc:docMk/>
          <pc:sldMk cId="0" sldId="263"/>
        </pc:sldMkLst>
      </pc:sldChg>
      <pc:sldChg chg="modSp mod">
        <pc:chgData name="Khushi Bhadana" userId="63b79da015caabee" providerId="LiveId" clId="{4036C098-0A70-4F76-9E0A-3179E2754C90}" dt="2026-06-17T15:53:18.656" v="4" actId="1076"/>
        <pc:sldMkLst>
          <pc:docMk/>
          <pc:sldMk cId="0" sldId="264"/>
        </pc:sldMkLst>
        <pc:spChg chg="mod">
          <ac:chgData name="Khushi Bhadana" userId="63b79da015caabee" providerId="LiveId" clId="{4036C098-0A70-4F76-9E0A-3179E2754C90}" dt="2026-06-17T15:53:18.656" v="4" actId="1076"/>
          <ac:spMkLst>
            <pc:docMk/>
            <pc:sldMk cId="0" sldId="264"/>
            <ac:spMk id="28" creationId="{00000000-0000-0000-0000-000000000000}"/>
          </ac:spMkLst>
        </pc:spChg>
        <pc:graphicFrameChg chg="mod modGraphic">
          <ac:chgData name="Khushi Bhadana" userId="63b79da015caabee" providerId="LiveId" clId="{4036C098-0A70-4F76-9E0A-3179E2754C90}" dt="2026-06-17T15:53:10.123" v="2" actId="1076"/>
          <ac:graphicFrameMkLst>
            <pc:docMk/>
            <pc:sldMk cId="0" sldId="264"/>
            <ac:graphicFrameMk id="27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(hrs)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90-471A-8825-3B3B5C56AAC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790-471A-8825-3B3B5C56AAC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790-471A-8825-3B3B5C56AAC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90-471A-8825-3B3B5C56AAC4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90-471A-8825-3B3B5C56AAC4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790-471A-8825-3B3B5C56AAC4}"/>
              </c:ext>
            </c:extLst>
          </c:dPt>
          <c:dPt>
            <c:idx val="6"/>
            <c:invertIfNegative val="0"/>
            <c:bubble3D val="0"/>
            <c:spPr>
              <a:solidFill>
                <a:srgbClr val="4D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790-471A-8825-3B3B5C56AAC4}"/>
              </c:ext>
            </c:extLst>
          </c:dPt>
          <c:dPt>
            <c:idx val="7"/>
            <c:invertIfNegative val="0"/>
            <c:bubble3D val="0"/>
            <c:spPr>
              <a:solidFill>
                <a:srgbClr val="4D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790-471A-8825-3B3B5C56AAC4}"/>
              </c:ext>
            </c:extLst>
          </c:dPt>
          <c:dPt>
            <c:idx val="8"/>
            <c:invertIfNegative val="0"/>
            <c:bubble3D val="0"/>
            <c:spPr>
              <a:solidFill>
                <a:srgbClr val="4D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790-471A-8825-3B3B5C56AAC4}"/>
              </c:ext>
            </c:extLst>
          </c:dPt>
          <c:dPt>
            <c:idx val="9"/>
            <c:invertIfNegative val="0"/>
            <c:bubble3D val="0"/>
            <c:spPr>
              <a:solidFill>
                <a:srgbClr val="4D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790-471A-8825-3B3B5C56AA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R002 Dubai→Shanghai</c:v>
                </c:pt>
                <c:pt idx="1">
                  <c:v>R007 Shanghai→Sydney</c:v>
                </c:pt>
                <c:pt idx="2">
                  <c:v>R020 Istanbul→Singapore</c:v>
                </c:pt>
                <c:pt idx="3">
                  <c:v>R003 Singapore→HK</c:v>
                </c:pt>
                <c:pt idx="4">
                  <c:v>R008 HK→Tokyo</c:v>
                </c:pt>
                <c:pt idx="5">
                  <c:v>R005 London→LA</c:v>
                </c:pt>
                <c:pt idx="6">
                  <c:v>R004 Paris→Toronto</c:v>
                </c:pt>
                <c:pt idx="7">
                  <c:v>R018 Sao Paulo→Memphis</c:v>
                </c:pt>
                <c:pt idx="8">
                  <c:v>R011 Chicago→Brussels</c:v>
                </c:pt>
                <c:pt idx="9">
                  <c:v>R014 Seoul→Jo'burg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  <c:pt idx="5">
                  <c:v>29.86</c:v>
                </c:pt>
                <c:pt idx="6">
                  <c:v>25.88</c:v>
                </c:pt>
                <c:pt idx="7">
                  <c:v>25.83</c:v>
                </c:pt>
                <c:pt idx="8">
                  <c:v>22.64</c:v>
                </c:pt>
                <c:pt idx="9">
                  <c:v>20.97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790-471A-8825-3B3B5C56AA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(hrs)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711-4260-BAA1-F62E7712348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711-4260-BAA1-F62E7712348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711-4260-BAA1-F62E7712348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711-4260-BAA1-F62E7712348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711-4260-BAA1-F62E7712348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711-4260-BAA1-F62E77123487}"/>
              </c:ext>
            </c:extLst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711-4260-BAA1-F62E77123487}"/>
              </c:ext>
            </c:extLst>
          </c:dPt>
          <c:dPt>
            <c:idx val="7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711-4260-BAA1-F62E77123487}"/>
              </c:ext>
            </c:extLst>
          </c:dPt>
          <c:dPt>
            <c:idx val="8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711-4260-BAA1-F62E77123487}"/>
              </c:ext>
            </c:extLst>
          </c:dPt>
          <c:dPt>
            <c:idx val="9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711-4260-BAA1-F62E771234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W004 Shanghai</c:v>
                </c:pt>
                <c:pt idx="1">
                  <c:v>W003 London</c:v>
                </c:pt>
                <c:pt idx="2">
                  <c:v>W008 Amsterdam</c:v>
                </c:pt>
                <c:pt idx="3">
                  <c:v>W005 Toronto</c:v>
                </c:pt>
                <c:pt idx="4">
                  <c:v>W007 Tokyo</c:v>
                </c:pt>
                <c:pt idx="5">
                  <c:v>W010 Jo'burg</c:v>
                </c:pt>
                <c:pt idx="6">
                  <c:v>W006 Chicago</c:v>
                </c:pt>
                <c:pt idx="7">
                  <c:v>W001 Memphis</c:v>
                </c:pt>
                <c:pt idx="8">
                  <c:v>W002 Singapore</c:v>
                </c:pt>
                <c:pt idx="9">
                  <c:v>W009 Madrid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25.88</c:v>
                </c:pt>
                <c:pt idx="1">
                  <c:v>25.54</c:v>
                </c:pt>
                <c:pt idx="2">
                  <c:v>24.35</c:v>
                </c:pt>
                <c:pt idx="3">
                  <c:v>22.43</c:v>
                </c:pt>
                <c:pt idx="4">
                  <c:v>22.06</c:v>
                </c:pt>
                <c:pt idx="5">
                  <c:v>21.8</c:v>
                </c:pt>
                <c:pt idx="6">
                  <c:v>21.34</c:v>
                </c:pt>
                <c:pt idx="7">
                  <c:v>20.239999999999998</c:v>
                </c:pt>
                <c:pt idx="8">
                  <c:v>15.13</c:v>
                </c:pt>
                <c:pt idx="9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711-4260-BAA1-F62E771234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AB-4816-841A-F3B3AFB7A145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AB-4816-841A-F3B3AFB7A145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AB-4816-841A-F3B3AFB7A14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AB-4816-841A-F3B3AFB7A14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7AB-4816-841A-F3B3AFB7A14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7AB-4816-841A-F3B3AFB7A14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In Transit</c:v>
                </c:pt>
                <c:pt idx="2">
                  <c:v>Returned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</c:v>
                </c:pt>
                <c:pt idx="1">
                  <c:v>150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AB-4816-841A-F3B3AFB7A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267-4C93-9F4D-58DB3BD8F526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67-4C93-9F4D-58DB3BD8F526}"/>
              </c:ext>
            </c:extLst>
          </c:dPt>
          <c:dPt>
            <c:idx val="2"/>
            <c:invertIfNegative val="0"/>
            <c:bubble3D val="0"/>
            <c:spPr>
              <a:solidFill>
                <a:srgbClr val="4D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67-4C93-9F4D-58DB3BD8F5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Traffic</c:v>
                </c:pt>
                <c:pt idx="1">
                  <c:v>Weather</c:v>
                </c:pt>
                <c:pt idx="2">
                  <c:v>Technical Issue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486</c:v>
                </c:pt>
                <c:pt idx="1">
                  <c:v>293</c:v>
                </c:pt>
                <c:pt idx="2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267-4C93-9F4D-58DB3BD8F5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(hrs)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6A-40E5-A455-A07897D5ED91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6A-40E5-A455-A07897D5ED91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6A-40E5-A455-A07897D5ED91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6A-40E5-A455-A07897D5ED91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86A-40E5-A455-A07897D5ED91}"/>
              </c:ext>
            </c:extLst>
          </c:dPt>
          <c:dPt>
            <c:idx val="5"/>
            <c:invertIfNegative val="0"/>
            <c:bubble3D val="0"/>
            <c:spPr>
              <a:solidFill>
                <a:srgbClr val="4D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86A-40E5-A455-A07897D5ED91}"/>
              </c:ext>
            </c:extLst>
          </c:dPt>
          <c:dPt>
            <c:idx val="6"/>
            <c:invertIfNegative val="0"/>
            <c:bubble3D val="0"/>
            <c:spPr>
              <a:solidFill>
                <a:srgbClr val="4D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86A-40E5-A455-A07897D5ED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UAE</c:v>
                </c:pt>
                <c:pt idx="1">
                  <c:v>Turkey</c:v>
                </c:pt>
                <c:pt idx="2">
                  <c:v>China</c:v>
                </c:pt>
                <c:pt idx="3">
                  <c:v>Singapore</c:v>
                </c:pt>
                <c:pt idx="4">
                  <c:v>UK</c:v>
                </c:pt>
                <c:pt idx="5">
                  <c:v>France</c:v>
                </c:pt>
                <c:pt idx="6">
                  <c:v>Brazil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41.04</c:v>
                </c:pt>
                <c:pt idx="1">
                  <c:v>32.799999999999997</c:v>
                </c:pt>
                <c:pt idx="2">
                  <c:v>32.53</c:v>
                </c:pt>
                <c:pt idx="3">
                  <c:v>32.18</c:v>
                </c:pt>
                <c:pt idx="4">
                  <c:v>29.86</c:v>
                </c:pt>
                <c:pt idx="5">
                  <c:v>25.88</c:v>
                </c:pt>
                <c:pt idx="6">
                  <c:v>25.83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86A-40E5-A455-A07897D5ED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39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4D148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Fed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468880" y="822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62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Optimization for Delivery Routes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SQL-Driven Analytics | Shipment Performance | Route Efficiency | KPI Reporting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657600"/>
            <a:ext cx="182880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657600"/>
            <a:ext cx="182880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182880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657600"/>
            <a:ext cx="182880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6656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822960"/>
            <a:ext cx="2743200" cy="777240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822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Data Cleaning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0" y="1828800"/>
            <a:ext cx="27432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Delay Analysis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0" y="2834640"/>
            <a:ext cx="2743200" cy="777240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Route Optimization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0" y="3840480"/>
            <a:ext cx="27432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Warehouse KPIs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0" y="4846320"/>
            <a:ext cx="2743200" cy="777240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4846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Agent Performance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Internshala Training Project  •  FedEx Global Logistics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5394960" cy="5394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operates a global network spanning 220+ countries with hubs in Memphis, Dubai, Singapore, Paris, and London.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e-commerce volumes create challenges: flight delays, customs bottlenecks, and last-mile congestion.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SQL-driven analytics system to analyze shipment performance, optimize routes, and enhance delivery efficiency.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960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Tables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594360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details, route, warehouse, payment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Source/destination, distance, transit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details, capacity,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Zone, experience, customer 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Pickup/delivery dates, delay, feedback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Identify delay patterns  •  Optimize hub/route combinations  •  Analyze agent &amp; warehouse performance  •  Recommend actionable improvements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Data Cleaning &amp; Preparation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10 MARKS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606040" cy="1371600"/>
          </a:xfrm>
          <a:prstGeom prst="rect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3957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1234440"/>
            <a:ext cx="2606040" cy="1371600"/>
          </a:xfrm>
          <a:prstGeom prst="rect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108960" y="1993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IDs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3957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1234440"/>
            <a:ext cx="2606040" cy="1371600"/>
          </a:xfrm>
          <a:prstGeom prst="rect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943600" y="1993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Delay_Hours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3957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778240" y="1234440"/>
            <a:ext cx="2606040" cy="1371600"/>
          </a:xfrm>
          <a:prstGeom prst="rect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778240" y="1993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23957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 dates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Operations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5486400" cy="354787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0040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Duplicate detection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COUNT(*) cnt FROM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Order_ID HAVING cnt &gt; 1;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Flag invalid dates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Shipments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Delivery_Date &lt; Pickup_Date;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Fill null Delay_Hours with route avg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Shipments SET Delay_Hours =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AVG(Delay_Hours) FROM Shipments s2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s2.Route_ID = Shipments.Route_ID)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Delay_Hours IS NULL;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788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Checks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108960"/>
          <a:ext cx="5760720" cy="23042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→ Routes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/ 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valid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→ Warehouses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/ 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valid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 → 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/ 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valid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 → Routes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/ 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valid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 →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/ 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valid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Delivery Delay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10 MARKS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560320" cy="1188720"/>
          </a:xfrm>
          <a:prstGeom prst="rect">
            <a:avLst/>
          </a:prstGeom>
          <a:solidFill>
            <a:srgbClr val="4D14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Delay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234440"/>
            <a:ext cx="2560320" cy="1188720"/>
          </a:xfrm>
          <a:prstGeom prst="rect">
            <a:avLst/>
          </a:prstGeom>
          <a:solidFill>
            <a:srgbClr val="E945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0175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Avg Delay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234440"/>
            <a:ext cx="2560320" cy="118872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607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Avg Delay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1234440"/>
            <a:ext cx="256032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5039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&gt;120h Delay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743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Routes by Average Delay (Hours)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3063240"/>
          <a:ext cx="6858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74066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Window Function – Rank by Delay per Warehouse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406640" y="3063240"/>
            <a:ext cx="4572000" cy="1645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0" y="31089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Shipment_ID, Warehouse_ID,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Delay_Hours,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Warehouse_ID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Delay_Hours DESC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Delay_Rank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Shipments;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06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Type Performance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5120640"/>
          <a:ext cx="4572000" cy="10972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 (hrs)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Paradoxically higher delay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relative 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Route Optimization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20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Efficiency Analysis (Distance KM ÷ Avg Transit Time)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8321040" cy="23042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Transit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→ Hong Kong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 → Istanbul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Frankfurt → Chicago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 → Shanghai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392.65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→ Amsterdam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540.34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Jo'burg → Dubai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545.49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749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Routes with Worst Efficiency Ratio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4069080"/>
            <a:ext cx="3611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4069080"/>
            <a:ext cx="361188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4069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Worst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4462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R003: Singapore → Hong Kong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Ratio: 37.66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51389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distance but very slow: 885 km takes ~23.5h avg. Heavy congestion.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69080" y="4069080"/>
            <a:ext cx="3611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069080" y="4069080"/>
            <a:ext cx="361188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4069080" y="4069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Worst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60520" y="4462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R015: Amsterdam → Istanbul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60520" y="4846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Ratio: 52.70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60520" y="51389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km, 11.5h avg. Customs and hub bottleneck suspected.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863840" y="4069080"/>
            <a:ext cx="3611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63840" y="4069080"/>
            <a:ext cx="361188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0" y="4069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Worst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955280" y="4462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R006: Frankfurt → Chicago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955280" y="4846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Ratio: 101.46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55280" y="51389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2,364 km, 23.3h avg. Transatlantic route with ground delays.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1430000" y="4069080"/>
            <a:ext cx="45720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routes exceed 20% delayed shipments — indicating systemic network-wide delays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Warehouse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&amp; On-Time % per Warehouse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508760"/>
          <a:ext cx="7315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8638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CTE: Warehouses Exceeding Global Avg Delay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1508760"/>
            <a:ext cx="4023360" cy="23774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15544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global_avg AS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AVG(Delay_Hours) AS g_avg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warehouse_avg AS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Warehouse_ID,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AVG(Delay_Hours) AS 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w.Warehouse_ID, w.City,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wa.avg_delay, g.g_avg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warehouse_avg wa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Warehouses w ON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 global_avg 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wa.avg_delay &gt; g.g_avg;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Rankings (On-Time %)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4297680"/>
          <a:ext cx="4023360" cy="230428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Johannesburg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Toronto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Shanghai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Tokyo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5029200"/>
            <a:ext cx="73152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6 of 10 warehouses exceed the global avg delay of 21.4 hrs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Delivery Agent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10 MARKS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on-time delivery: 6.4%  |  All agents operate under systemic delay conditions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Agents (Highest On-Time %)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11680"/>
          <a:ext cx="5669280" cy="20848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Exp(yrs)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Jamie Lopez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Taylor Garcia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Cameron Garcia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 Taylor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Casey Miller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09360" y="1691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Agents (Lowest On-Time %)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11680"/>
          <a:ext cx="5577840" cy="20848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Exp(yrs)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Elliot Rodriguez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Brown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Jones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Cameron Lopez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Rodriguez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74320" y="4069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Summary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89120"/>
          <a:ext cx="5669280" cy="115214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On-Time%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Experience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5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6309360" y="4069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Workload Recommendations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09360" y="4434840"/>
            <a:ext cx="274320" cy="274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8" name="Text 13"/>
          <p:cNvSpPr/>
          <p:nvPr/>
        </p:nvSpPr>
        <p:spPr>
          <a:xfrm>
            <a:off x="6675120" y="4434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shadowing program for bottom agents with experienced peers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309360" y="4864608"/>
            <a:ext cx="274320" cy="274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864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concurrent route assignments for agents with 0% on-time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309360" y="5294376"/>
            <a:ext cx="274320" cy="274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3" name="Text 17"/>
          <p:cNvSpPr/>
          <p:nvPr/>
        </p:nvSpPr>
        <p:spPr>
          <a:xfrm>
            <a:off x="6675120" y="52943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training on high-delay routes (R002, R007, R020)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09360" y="5724144"/>
            <a:ext cx="274320" cy="274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4" name="Text 19"/>
          <p:cNvSpPr/>
          <p:nvPr/>
        </p:nvSpPr>
        <p:spPr>
          <a:xfrm>
            <a:off x="6675120" y="57241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reviews tied to incentive programs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309360" y="6153912"/>
            <a:ext cx="274320" cy="274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6" name="Text 21"/>
          <p:cNvSpPr/>
          <p:nvPr/>
        </p:nvSpPr>
        <p:spPr>
          <a:xfrm>
            <a:off x="6675120" y="6153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High-experience agents (9+ yrs, 0% on-time) need process retraining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Shipment Tracking Analytics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Breakdown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5544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5669280" y="1234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Delay Reasons</a:t>
            </a:r>
            <a:endParaRPr lang="en-US" sz="12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5669280" y="1554480"/>
          <a:ext cx="6217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4343400"/>
          <a:ext cx="6217920" cy="13898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Delayed Shipments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27432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120 Hour Delay Bottlenecks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212080"/>
          <a:ext cx="5029200" cy="1737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(hrs)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S00761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S00174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S00924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274320" y="647395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shipments exceed 120-hr delay threshold — concentrated on R002, R005, R006, R007, R018, R020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61520" cy="3657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7: Advanced KPI Reporting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— 10 MARKS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560320" cy="1188720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On-Time Delivery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234440"/>
            <a:ext cx="256032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0175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Delay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234440"/>
            <a:ext cx="2560320" cy="1188720"/>
          </a:xfrm>
          <a:prstGeom prst="rect">
            <a:avLst/>
          </a:prstGeom>
          <a:solidFill>
            <a:srgbClr val="E945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238.6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607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Single-Shipment Delay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1234440"/>
            <a:ext cx="2560320" cy="118872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503920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Delay &gt; 30h Avg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560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by Source Country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288036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6217920" y="2560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 %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07764"/>
              </p:ext>
            </p:extLst>
          </p:nvPr>
        </p:nvGraphicFramePr>
        <p:xfrm>
          <a:off x="6096000" y="2615184"/>
          <a:ext cx="5669280" cy="2774440"/>
        </p:xfrm>
        <a:graphic>
          <a:graphicData uri="http://schemas.openxmlformats.org/drawingml/2006/table">
            <a:tbl>
              <a:tblPr/>
              <a:tblGrid>
                <a:gridCol w="70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Capacity/Day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Johannesburg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Toronto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Shanghai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Memphis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6217920" y="5409575"/>
            <a:ext cx="5669280" cy="347472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29" name="Text 25"/>
          <p:cNvSpPr/>
          <p:nvPr/>
        </p:nvSpPr>
        <p:spPr>
          <a:xfrm>
            <a:off x="6217920" y="5394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warehouses severely under-utilized — max 10.3% vs capacity. Opportunity to consolidate volume.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14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572000" cy="457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557784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73152" cy="1417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84708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Critical On-Time Failure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21284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6.4% of shipments delivered on time. This points to systemic network-wide delays rather than isolated issues.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557784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73152" cy="1417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4015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 3 Priority Routes to Fix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76732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R003 (Singapore→HK), R015 (Amsterdam→Istanbul), R002 (Dubai→Shanghai) have the worst efficiency and highest delays.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557784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846320"/>
            <a:ext cx="73152" cy="1417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95604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6 Underperforming Warehouses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532180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W004 Shanghai, W003 London &amp; W008 Amsterdam exceed global avg delay. Capacity is barely utilized (3-10%), indicating dispatch inefficiencies.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1737360"/>
            <a:ext cx="557784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737360"/>
            <a:ext cx="73152" cy="1417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184708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Agent Performance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73952" y="221284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agents achieve only ~20% on-time, while bottom agents show 0%. High-experience agents underperforming suggests process/system issues, not just skill gaps.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3291840"/>
            <a:ext cx="557784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291840"/>
            <a:ext cx="73152" cy="1417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34015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52 Critical Shipment Bottlenecks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376732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delayed 120-238 hours exist. Traffic (51%) is #1 delay cause — route re-optimization and dynamic rerouting tools needed.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4846320"/>
            <a:ext cx="557784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846320"/>
            <a:ext cx="73152" cy="14173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495604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Warehouse Capacity Underutilized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3952" y="532180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warehouses run below 11% of capacity. Consolidating volumes into fewer hubs would improve throughput &amp; reduce per-shipment handling costs.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Logistics Optimization  •  Internshala Training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Microsoft Office PowerPoint</Application>
  <PresentationFormat>Widescreen</PresentationFormat>
  <Paragraphs>449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FedEx Logistics Optimization</dc:title>
  <dc:subject>PptxGenJS Presentation</dc:subject>
  <dc:creator>PptxGenJS</dc:creator>
  <cp:lastModifiedBy>Khushi Bhadana</cp:lastModifiedBy>
  <cp:revision>1</cp:revision>
  <dcterms:created xsi:type="dcterms:W3CDTF">2026-06-01T18:07:19Z</dcterms:created>
  <dcterms:modified xsi:type="dcterms:W3CDTF">2026-06-17T15:53:35Z</dcterms:modified>
</cp:coreProperties>
</file>